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1"/>
  </p:sldMasterIdLst>
  <p:sldIdLst>
    <p:sldId id="256" r:id="rId2"/>
    <p:sldId id="264" r:id="rId3"/>
    <p:sldId id="257" r:id="rId4"/>
    <p:sldId id="258" r:id="rId5"/>
    <p:sldId id="267" r:id="rId6"/>
    <p:sldId id="259" r:id="rId7"/>
    <p:sldId id="260" r:id="rId8"/>
    <p:sldId id="261" r:id="rId9"/>
    <p:sldId id="262" r:id="rId10"/>
    <p:sldId id="263"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4660"/>
  </p:normalViewPr>
  <p:slideViewPr>
    <p:cSldViewPr snapToGrid="0">
      <p:cViewPr varScale="1">
        <p:scale>
          <a:sx n="88" d="100"/>
          <a:sy n="88" d="100"/>
        </p:scale>
        <p:origin x="45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05EA81EB-C95E-493A-9975-3C095B8E3A5E}" type="datetimeFigureOut">
              <a:rPr lang="en-US" smtClean="0"/>
              <a:t>4/11/2018</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2283162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EA81EB-C95E-493A-9975-3C095B8E3A5E}"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1452357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05EA81EB-C95E-493A-9975-3C095B8E3A5E}" type="datetimeFigureOut">
              <a:rPr lang="en-US" smtClean="0"/>
              <a:t>4/11/2018</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1982428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3696376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5EA81EB-C95E-493A-9975-3C095B8E3A5E}" type="datetimeFigureOut">
              <a:rPr lang="en-US" smtClean="0"/>
              <a:t>4/11/2018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2904220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5EA81EB-C95E-493A-9975-3C095B8E3A5E}" type="datetimeFigureOut">
              <a:rPr lang="en-US" smtClean="0"/>
              <a:t>4/11/2018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191986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EA81EB-C95E-493A-9975-3C095B8E3A5E}" type="datetimeFigureOut">
              <a:rPr lang="en-US" smtClean="0"/>
              <a:t>4/11/2018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758324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3250264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215168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2835062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1411412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6A0DF12-5B95-4F02-A82C-C272D825B3D7}"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13917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5EA81EB-C95E-493A-9975-3C095B8E3A5E}" type="datetimeFigureOut">
              <a:rPr lang="en-US" smtClean="0"/>
              <a:t>4/11/2018</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6199113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5EA81EB-C95E-493A-9975-3C095B8E3A5E}" type="datetimeFigureOut">
              <a:rPr lang="en-US" smtClean="0"/>
              <a:t>4/11/2018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3529712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5EA81EB-C95E-493A-9975-3C095B8E3A5E}" type="datetimeFigureOut">
              <a:rPr lang="en-US" smtClean="0"/>
              <a:t>4/11/2018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2767025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5EA81EB-C95E-493A-9975-3C095B8E3A5E}" type="datetimeFigureOut">
              <a:rPr lang="en-US" smtClean="0"/>
              <a:t>4/11/2018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53344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5EA81EB-C95E-493A-9975-3C095B8E3A5E}" type="datetimeFigureOut">
              <a:rPr lang="en-US" smtClean="0"/>
              <a:t>4/11/2018</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26A0DF12-5B95-4F02-A82C-C272D825B3D7}" type="slidenum">
              <a:rPr lang="en-US" smtClean="0"/>
              <a:t>‹#›</a:t>
            </a:fld>
            <a:endParaRPr lang="en-US"/>
          </a:p>
        </p:txBody>
      </p:sp>
    </p:spTree>
    <p:extLst>
      <p:ext uri="{BB962C8B-B14F-4D97-AF65-F5344CB8AC3E}">
        <p14:creationId xmlns:p14="http://schemas.microsoft.com/office/powerpoint/2010/main" val="1657283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5EA81EB-C95E-493A-9975-3C095B8E3A5E}" type="datetimeFigureOut">
              <a:rPr lang="en-US" smtClean="0"/>
              <a:t>4/11/2018</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6A0DF12-5B95-4F02-A82C-C272D825B3D7}" type="slidenum">
              <a:rPr lang="en-US" smtClean="0"/>
              <a:t>‹#›</a:t>
            </a:fld>
            <a:endParaRPr lang="en-US"/>
          </a:p>
        </p:txBody>
      </p:sp>
    </p:spTree>
    <p:extLst>
      <p:ext uri="{BB962C8B-B14F-4D97-AF65-F5344CB8AC3E}">
        <p14:creationId xmlns:p14="http://schemas.microsoft.com/office/powerpoint/2010/main" val="4129179506"/>
      </p:ext>
    </p:extLst>
  </p:cSld>
  <p:clrMap bg1="dk1" tx1="lt1" bg2="dk2" tx2="lt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Your </a:t>
            </a:r>
            <a:r>
              <a:rPr lang="en-US" dirty="0" smtClean="0"/>
              <a:t>Paper 2 final </a:t>
            </a:r>
            <a:r>
              <a:rPr lang="en-US" dirty="0" smtClean="0"/>
              <a:t>revisions</a:t>
            </a:r>
            <a:endParaRPr lang="en-US" dirty="0"/>
          </a:p>
        </p:txBody>
      </p:sp>
      <p:sp>
        <p:nvSpPr>
          <p:cNvPr id="3" name="Subtitle 2"/>
          <p:cNvSpPr>
            <a:spLocks noGrp="1"/>
          </p:cNvSpPr>
          <p:nvPr>
            <p:ph type="subTitle" idx="1"/>
          </p:nvPr>
        </p:nvSpPr>
        <p:spPr>
          <a:xfrm>
            <a:off x="1371600" y="3609633"/>
            <a:ext cx="9448800" cy="685800"/>
          </a:xfrm>
        </p:spPr>
        <p:txBody>
          <a:bodyPr/>
          <a:lstStyle/>
          <a:p>
            <a:r>
              <a:rPr lang="en-US" dirty="0" smtClean="0"/>
              <a:t>Michelle Lane, A-Level Global Perspectives 2018</a:t>
            </a:r>
            <a:endParaRPr lang="en-US" dirty="0"/>
          </a:p>
        </p:txBody>
      </p:sp>
    </p:spTree>
    <p:extLst>
      <p:ext uri="{BB962C8B-B14F-4D97-AF65-F5344CB8AC3E}">
        <p14:creationId xmlns:p14="http://schemas.microsoft.com/office/powerpoint/2010/main" val="5973207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a:t>
            </a:r>
            <a:endParaRPr lang="en-US" dirty="0"/>
          </a:p>
        </p:txBody>
      </p:sp>
      <p:sp>
        <p:nvSpPr>
          <p:cNvPr id="3" name="Content Placeholder 2"/>
          <p:cNvSpPr>
            <a:spLocks noGrp="1"/>
          </p:cNvSpPr>
          <p:nvPr>
            <p:ph idx="1"/>
          </p:nvPr>
        </p:nvSpPr>
        <p:spPr/>
        <p:txBody>
          <a:bodyPr/>
          <a:lstStyle/>
          <a:p>
            <a:pPr marL="0" indent="0">
              <a:buNone/>
            </a:pPr>
            <a:r>
              <a:rPr lang="en-US" dirty="0"/>
              <a:t>S</a:t>
            </a:r>
            <a:r>
              <a:rPr lang="en-US" dirty="0" smtClean="0"/>
              <a:t>o, you’ve figured out a question, researched it, and written an essay you’re either super proud of or super unsure about. That’s alright, though, because there’s always time for final revisions!</a:t>
            </a:r>
            <a:endParaRPr lang="en-US" dirty="0"/>
          </a:p>
        </p:txBody>
      </p:sp>
      <p:pic>
        <p:nvPicPr>
          <p:cNvPr id="4098" name="Picture 2" descr="Image result for final revis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9186" y="2962282"/>
            <a:ext cx="4043257" cy="3142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438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revise your paper 2?</a:t>
            </a:r>
            <a:endParaRPr lang="en-US" dirty="0"/>
          </a:p>
        </p:txBody>
      </p:sp>
      <p:sp>
        <p:nvSpPr>
          <p:cNvPr id="3" name="Content Placeholder 2"/>
          <p:cNvSpPr>
            <a:spLocks noGrp="1"/>
          </p:cNvSpPr>
          <p:nvPr>
            <p:ph idx="1"/>
          </p:nvPr>
        </p:nvSpPr>
        <p:spPr/>
        <p:txBody>
          <a:bodyPr/>
          <a:lstStyle/>
          <a:p>
            <a:r>
              <a:rPr lang="en-US" dirty="0" smtClean="0"/>
              <a:t>It improves…</a:t>
            </a:r>
          </a:p>
          <a:p>
            <a:pPr lvl="1"/>
            <a:r>
              <a:rPr lang="en-US" dirty="0" smtClean="0"/>
              <a:t>FLOW</a:t>
            </a:r>
          </a:p>
          <a:p>
            <a:pPr lvl="1"/>
            <a:r>
              <a:rPr lang="en-US" dirty="0" smtClean="0"/>
              <a:t>PROFESSIONALISM</a:t>
            </a:r>
          </a:p>
          <a:p>
            <a:pPr lvl="1"/>
            <a:r>
              <a:rPr lang="en-US" dirty="0" smtClean="0"/>
              <a:t>ORGANIZATION</a:t>
            </a:r>
          </a:p>
          <a:p>
            <a:pPr lvl="1"/>
            <a:r>
              <a:rPr lang="en-US" dirty="0" smtClean="0"/>
              <a:t>And finally…SCORE</a:t>
            </a:r>
          </a:p>
        </p:txBody>
      </p:sp>
      <p:pic>
        <p:nvPicPr>
          <p:cNvPr id="1028" name="Picture 4" descr="Image result for essay revisi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9926" y="1876373"/>
            <a:ext cx="5212080" cy="347472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mage result for aice cambrid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0203" y="3679372"/>
            <a:ext cx="42672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9349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Simplify your Structure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Come up with a structure that you’ll use to evaluate each subtopic that you’ve written. This should be an algorithm that you can follow beat for beat, but it should not </a:t>
            </a:r>
            <a:r>
              <a:rPr lang="en-US" i="1" u="sng" dirty="0" smtClean="0"/>
              <a:t>read</a:t>
            </a:r>
            <a:r>
              <a:rPr lang="en-US" dirty="0" smtClean="0"/>
              <a:t> like an algorithm.</a:t>
            </a:r>
          </a:p>
          <a:p>
            <a:r>
              <a:rPr lang="en-US" dirty="0" smtClean="0"/>
              <a:t>The structure you choose should make it simple (for both you and, more importantly, your AICE grader!) to identify each area for which you’re given points. It will also make your paper easier to read, improve flow, and eliminate a lot of possible confusion.</a:t>
            </a:r>
          </a:p>
          <a:p>
            <a:r>
              <a:rPr lang="en-US" dirty="0" smtClean="0"/>
              <a:t>Example structure</a:t>
            </a:r>
            <a:r>
              <a:rPr lang="en-US" dirty="0" smtClean="0"/>
              <a:t>:</a:t>
            </a:r>
            <a:endParaRPr lang="en-US" dirty="0" smtClean="0"/>
          </a:p>
          <a:p>
            <a:pPr marL="914400" lvl="1" indent="-457200">
              <a:buAutoNum type="arabicPeriod"/>
            </a:pPr>
            <a:r>
              <a:rPr lang="en-US" dirty="0" smtClean="0"/>
              <a:t>Intro/transition</a:t>
            </a:r>
            <a:endParaRPr lang="en-US" dirty="0" smtClean="0"/>
          </a:p>
          <a:p>
            <a:pPr marL="914400" lvl="1" indent="-457200">
              <a:buAutoNum type="arabicPeriod"/>
            </a:pPr>
            <a:r>
              <a:rPr lang="en-US" dirty="0" smtClean="0"/>
              <a:t>Source</a:t>
            </a:r>
            <a:endParaRPr lang="en-US" dirty="0"/>
          </a:p>
          <a:p>
            <a:pPr marL="914400" lvl="1" indent="-457200">
              <a:buAutoNum type="arabicPeriod"/>
            </a:pPr>
            <a:r>
              <a:rPr lang="en-US" dirty="0" smtClean="0"/>
              <a:t>Brief two-sided source validation</a:t>
            </a:r>
            <a:endParaRPr lang="en-US" dirty="0" smtClean="0"/>
          </a:p>
          <a:p>
            <a:pPr marL="914400" lvl="1" indent="-457200">
              <a:buAutoNum type="arabicPeriod"/>
            </a:pPr>
            <a:r>
              <a:rPr lang="en-US" dirty="0" smtClean="0"/>
              <a:t>Analysis of source material</a:t>
            </a:r>
          </a:p>
          <a:p>
            <a:pPr marL="914400" lvl="1" indent="-457200">
              <a:buAutoNum type="arabicPeriod"/>
            </a:pPr>
            <a:r>
              <a:rPr lang="en-US" dirty="0" smtClean="0"/>
              <a:t>Final </a:t>
            </a:r>
            <a:r>
              <a:rPr lang="en-US" dirty="0" smtClean="0"/>
              <a:t>judgment/Evaluation based on source material</a:t>
            </a:r>
          </a:p>
          <a:p>
            <a:pPr marL="914400" lvl="1" indent="-457200">
              <a:buAutoNum type="arabicPeriod"/>
            </a:pPr>
            <a:r>
              <a:rPr lang="en-US" dirty="0" smtClean="0"/>
              <a:t>Tie back to question</a:t>
            </a:r>
            <a:endParaRPr lang="en-US" dirty="0"/>
          </a:p>
          <a:p>
            <a:pPr marL="914400" lvl="1" indent="-457200">
              <a:buAutoNum type="arabicPeriod"/>
            </a:pPr>
            <a:r>
              <a:rPr lang="en-US" dirty="0" smtClean="0"/>
              <a:t>Repeat</a:t>
            </a:r>
            <a:endParaRPr lang="en-US" dirty="0"/>
          </a:p>
        </p:txBody>
      </p:sp>
      <p:pic>
        <p:nvPicPr>
          <p:cNvPr id="2050" name="Picture 2" descr="Image result for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1521" y="3866029"/>
            <a:ext cx="3533140" cy="235265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urved arr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74469" y="4116956"/>
            <a:ext cx="827308" cy="2005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846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Here’s an example </a:t>
            </a:r>
            <a:endParaRPr lang="en-US" dirty="0"/>
          </a:p>
        </p:txBody>
      </p:sp>
      <p:sp>
        <p:nvSpPr>
          <p:cNvPr id="3" name="Content Placeholder 2"/>
          <p:cNvSpPr>
            <a:spLocks noGrp="1"/>
          </p:cNvSpPr>
          <p:nvPr>
            <p:ph idx="1"/>
          </p:nvPr>
        </p:nvSpPr>
        <p:spPr>
          <a:xfrm>
            <a:off x="685800" y="2194560"/>
            <a:ext cx="9572897" cy="4024125"/>
          </a:xfrm>
        </p:spPr>
        <p:txBody>
          <a:bodyPr>
            <a:normAutofit fontScale="92500" lnSpcReduction="20000"/>
          </a:bodyPr>
          <a:lstStyle/>
          <a:p>
            <a:pPr marL="0" indent="0">
              <a:buNone/>
            </a:pPr>
            <a:r>
              <a:rPr lang="en-US" dirty="0" smtClean="0"/>
              <a:t>	</a:t>
            </a:r>
            <a:r>
              <a:rPr lang="en-US" dirty="0" smtClean="0">
                <a:solidFill>
                  <a:schemeClr val="accent1"/>
                </a:solidFill>
              </a:rPr>
              <a:t>However</a:t>
            </a:r>
            <a:r>
              <a:rPr lang="en-US" dirty="0">
                <a:solidFill>
                  <a:schemeClr val="accent1"/>
                </a:solidFill>
              </a:rPr>
              <a:t>, this painfully-ironic gesture of hatred is not unaccompanied. The continuity of this type of act is shown in some statistics recovered by Jessica </a:t>
            </a:r>
            <a:r>
              <a:rPr lang="en-US" dirty="0" err="1">
                <a:solidFill>
                  <a:schemeClr val="accent1"/>
                </a:solidFill>
              </a:rPr>
              <a:t>Glenza</a:t>
            </a:r>
            <a:r>
              <a:rPr lang="en-US" dirty="0">
                <a:solidFill>
                  <a:schemeClr val="accent1"/>
                </a:solidFill>
              </a:rPr>
              <a:t> of The Guardian. </a:t>
            </a:r>
          </a:p>
          <a:p>
            <a:pPr marL="0" indent="0">
              <a:buNone/>
            </a:pPr>
            <a:r>
              <a:rPr lang="en-US" dirty="0" smtClean="0"/>
              <a:t>	</a:t>
            </a:r>
            <a:r>
              <a:rPr lang="en-US" dirty="0" smtClean="0">
                <a:solidFill>
                  <a:schemeClr val="accent2"/>
                </a:solidFill>
              </a:rPr>
              <a:t>Abortion </a:t>
            </a:r>
            <a:r>
              <a:rPr lang="en-US" dirty="0">
                <a:solidFill>
                  <a:schemeClr val="accent2"/>
                </a:solidFill>
              </a:rPr>
              <a:t>providers have experienced an average of 1.3 fires per </a:t>
            </a:r>
            <a:r>
              <a:rPr lang="en-US" dirty="0" smtClean="0">
                <a:solidFill>
                  <a:schemeClr val="accent2"/>
                </a:solidFill>
              </a:rPr>
              <a:t>	year </a:t>
            </a:r>
            <a:r>
              <a:rPr lang="en-US" dirty="0">
                <a:solidFill>
                  <a:schemeClr val="accent2"/>
                </a:solidFill>
              </a:rPr>
              <a:t>for the </a:t>
            </a:r>
            <a:r>
              <a:rPr lang="en-US" dirty="0" smtClean="0">
                <a:solidFill>
                  <a:schemeClr val="accent2"/>
                </a:solidFill>
              </a:rPr>
              <a:t>last </a:t>
            </a:r>
            <a:r>
              <a:rPr lang="en-US" dirty="0">
                <a:solidFill>
                  <a:schemeClr val="accent2"/>
                </a:solidFill>
              </a:rPr>
              <a:t>10 years…Five arsons were committed in 2012, the </a:t>
            </a:r>
            <a:r>
              <a:rPr lang="en-US" dirty="0" smtClean="0">
                <a:solidFill>
                  <a:schemeClr val="accent2"/>
                </a:solidFill>
              </a:rPr>
              <a:t>	most </a:t>
            </a:r>
            <a:r>
              <a:rPr lang="en-US" dirty="0">
                <a:solidFill>
                  <a:schemeClr val="accent2"/>
                </a:solidFill>
              </a:rPr>
              <a:t>in one year since </a:t>
            </a:r>
            <a:r>
              <a:rPr lang="en-US" dirty="0" smtClean="0">
                <a:solidFill>
                  <a:schemeClr val="accent2"/>
                </a:solidFill>
              </a:rPr>
              <a:t>2004…there </a:t>
            </a:r>
            <a:r>
              <a:rPr lang="en-US" dirty="0">
                <a:solidFill>
                  <a:schemeClr val="accent2"/>
                </a:solidFill>
              </a:rPr>
              <a:t>was one in 2014…In 2012, NAF </a:t>
            </a:r>
            <a:r>
              <a:rPr lang="en-US" dirty="0" smtClean="0">
                <a:solidFill>
                  <a:schemeClr val="accent2"/>
                </a:solidFill>
              </a:rPr>
              <a:t>	confirmed </a:t>
            </a:r>
            <a:r>
              <a:rPr lang="en-US" dirty="0">
                <a:solidFill>
                  <a:schemeClr val="accent2"/>
                </a:solidFill>
              </a:rPr>
              <a:t>five arsons that targeted </a:t>
            </a:r>
            <a:r>
              <a:rPr lang="en-US" dirty="0" smtClean="0">
                <a:solidFill>
                  <a:schemeClr val="accent2"/>
                </a:solidFill>
              </a:rPr>
              <a:t>abortion </a:t>
            </a:r>
            <a:r>
              <a:rPr lang="en-US" dirty="0">
                <a:solidFill>
                  <a:schemeClr val="accent2"/>
                </a:solidFill>
              </a:rPr>
              <a:t>providers, and there </a:t>
            </a:r>
            <a:r>
              <a:rPr lang="en-US" dirty="0" smtClean="0">
                <a:solidFill>
                  <a:schemeClr val="accent2"/>
                </a:solidFill>
              </a:rPr>
              <a:t>	have </a:t>
            </a:r>
            <a:r>
              <a:rPr lang="en-US" dirty="0">
                <a:solidFill>
                  <a:schemeClr val="accent2"/>
                </a:solidFill>
              </a:rPr>
              <a:t>been 58 since 1995, </a:t>
            </a:r>
            <a:r>
              <a:rPr lang="en-US" dirty="0">
                <a:solidFill>
                  <a:srgbClr val="FFFF00"/>
                </a:solidFill>
              </a:rPr>
              <a:t>(</a:t>
            </a:r>
            <a:r>
              <a:rPr lang="en-US" dirty="0" err="1">
                <a:solidFill>
                  <a:srgbClr val="FFFF00"/>
                </a:solidFill>
              </a:rPr>
              <a:t>Glenza</a:t>
            </a:r>
            <a:r>
              <a:rPr lang="en-US" dirty="0">
                <a:solidFill>
                  <a:srgbClr val="FFFF00"/>
                </a:solidFill>
              </a:rPr>
              <a:t>, J., 2017).</a:t>
            </a:r>
          </a:p>
          <a:p>
            <a:pPr marL="0" indent="0">
              <a:buNone/>
            </a:pPr>
            <a:r>
              <a:rPr lang="en-US" dirty="0" smtClean="0"/>
              <a:t>	</a:t>
            </a:r>
            <a:r>
              <a:rPr lang="en-US" dirty="0" smtClean="0">
                <a:solidFill>
                  <a:schemeClr val="accent4"/>
                </a:solidFill>
              </a:rPr>
              <a:t>Jessica </a:t>
            </a:r>
            <a:r>
              <a:rPr lang="en-US" dirty="0" err="1">
                <a:solidFill>
                  <a:schemeClr val="accent4"/>
                </a:solidFill>
              </a:rPr>
              <a:t>Glenza</a:t>
            </a:r>
            <a:r>
              <a:rPr lang="en-US" dirty="0">
                <a:solidFill>
                  <a:schemeClr val="accent4"/>
                </a:solidFill>
              </a:rPr>
              <a:t> is a health reporter for The Guardian (US edition) and has written many articles about modern health and politics. However, her writing may be biased liberally due to the liberal nature of the Guardian’s publications. </a:t>
            </a:r>
            <a:r>
              <a:rPr lang="en-US" dirty="0">
                <a:solidFill>
                  <a:schemeClr val="accent5"/>
                </a:solidFill>
              </a:rPr>
              <a:t>The events described in the 1980s warranted an entire book, whereas today, this type of appalling action is plastered all over the papers. It has gotten far from better, and the evidence of that is shown in the fear many of us feel when speaking about taboo subjects. </a:t>
            </a:r>
            <a:r>
              <a:rPr lang="en-US" dirty="0">
                <a:solidFill>
                  <a:srgbClr val="7030A0"/>
                </a:solidFill>
              </a:rPr>
              <a:t>There is clearly a kind of real, tangible violence and danger beyond all of the microaggression.</a:t>
            </a:r>
          </a:p>
          <a:p>
            <a:pPr marL="0" indent="0">
              <a:buNone/>
            </a:pPr>
            <a:endParaRPr lang="en-US" dirty="0"/>
          </a:p>
        </p:txBody>
      </p:sp>
      <p:sp>
        <p:nvSpPr>
          <p:cNvPr id="4" name="TextBox 3"/>
          <p:cNvSpPr txBox="1"/>
          <p:nvPr/>
        </p:nvSpPr>
        <p:spPr>
          <a:xfrm>
            <a:off x="10197737" y="1909356"/>
            <a:ext cx="1672046" cy="4801314"/>
          </a:xfrm>
          <a:prstGeom prst="rect">
            <a:avLst/>
          </a:prstGeom>
          <a:noFill/>
        </p:spPr>
        <p:txBody>
          <a:bodyPr wrap="square" rtlCol="0">
            <a:spAutoFit/>
          </a:bodyPr>
          <a:lstStyle/>
          <a:p>
            <a:r>
              <a:rPr lang="en-US" dirty="0" smtClean="0">
                <a:solidFill>
                  <a:schemeClr val="accent1"/>
                </a:solidFill>
              </a:rPr>
              <a:t>Introduction </a:t>
            </a:r>
          </a:p>
          <a:p>
            <a:endParaRPr lang="en-US" dirty="0"/>
          </a:p>
          <a:p>
            <a:endParaRPr lang="en-US" dirty="0" smtClean="0"/>
          </a:p>
          <a:p>
            <a:r>
              <a:rPr lang="en-US" dirty="0" smtClean="0">
                <a:solidFill>
                  <a:schemeClr val="accent2"/>
                </a:solidFill>
              </a:rPr>
              <a:t>Source</a:t>
            </a:r>
          </a:p>
          <a:p>
            <a:endParaRPr lang="en-US" dirty="0"/>
          </a:p>
          <a:p>
            <a:r>
              <a:rPr lang="en-US" dirty="0" smtClean="0">
                <a:solidFill>
                  <a:srgbClr val="FFFF00"/>
                </a:solidFill>
              </a:rPr>
              <a:t>Parenthetical Citation</a:t>
            </a:r>
          </a:p>
          <a:p>
            <a:endParaRPr lang="en-US" dirty="0" smtClean="0"/>
          </a:p>
          <a:p>
            <a:r>
              <a:rPr lang="en-US" dirty="0" smtClean="0">
                <a:solidFill>
                  <a:schemeClr val="accent4"/>
                </a:solidFill>
              </a:rPr>
              <a:t>Source Validation</a:t>
            </a:r>
          </a:p>
          <a:p>
            <a:endParaRPr lang="en-US" dirty="0"/>
          </a:p>
          <a:p>
            <a:r>
              <a:rPr lang="en-US" dirty="0" smtClean="0">
                <a:solidFill>
                  <a:schemeClr val="accent5"/>
                </a:solidFill>
              </a:rPr>
              <a:t>Analysis</a:t>
            </a:r>
          </a:p>
          <a:p>
            <a:endParaRPr lang="en-US" dirty="0"/>
          </a:p>
          <a:p>
            <a:r>
              <a:rPr lang="en-US" dirty="0" smtClean="0">
                <a:solidFill>
                  <a:srgbClr val="7030A0"/>
                </a:solidFill>
              </a:rPr>
              <a:t>Evaluation/</a:t>
            </a:r>
          </a:p>
          <a:p>
            <a:r>
              <a:rPr lang="en-US" dirty="0" smtClean="0">
                <a:solidFill>
                  <a:srgbClr val="7030A0"/>
                </a:solidFill>
              </a:rPr>
              <a:t>Judgment/</a:t>
            </a:r>
          </a:p>
          <a:p>
            <a:r>
              <a:rPr lang="en-US" dirty="0" smtClean="0">
                <a:solidFill>
                  <a:srgbClr val="7030A0"/>
                </a:solidFill>
              </a:rPr>
              <a:t>Tie to question</a:t>
            </a:r>
            <a:endParaRPr lang="en-US" dirty="0">
              <a:solidFill>
                <a:srgbClr val="7030A0"/>
              </a:solidFill>
            </a:endParaRPr>
          </a:p>
        </p:txBody>
      </p:sp>
      <p:cxnSp>
        <p:nvCxnSpPr>
          <p:cNvPr id="6" name="Straight Connector 5"/>
          <p:cNvCxnSpPr/>
          <p:nvPr/>
        </p:nvCxnSpPr>
        <p:spPr>
          <a:xfrm>
            <a:off x="10128069" y="1909356"/>
            <a:ext cx="0" cy="4717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242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on your words</a:t>
            </a:r>
            <a:endParaRPr lang="en-US" dirty="0"/>
          </a:p>
        </p:txBody>
      </p:sp>
      <p:sp>
        <p:nvSpPr>
          <p:cNvPr id="3" name="Content Placeholder 2"/>
          <p:cNvSpPr>
            <a:spLocks noGrp="1"/>
          </p:cNvSpPr>
          <p:nvPr>
            <p:ph idx="1"/>
          </p:nvPr>
        </p:nvSpPr>
        <p:spPr/>
        <p:txBody>
          <a:bodyPr/>
          <a:lstStyle/>
          <a:p>
            <a:r>
              <a:rPr lang="en-US" dirty="0" smtClean="0"/>
              <a:t>Although you </a:t>
            </a:r>
            <a:r>
              <a:rPr lang="en-US" dirty="0" smtClean="0"/>
              <a:t>may believe the amount of big, fancy words you put in your paper will earn you higher marks, that isn’t necessarily the case. There are several points to keep in mind here.</a:t>
            </a:r>
          </a:p>
          <a:p>
            <a:pPr marL="914400" lvl="1" indent="-457200">
              <a:buAutoNum type="arabicPeriod"/>
            </a:pPr>
            <a:r>
              <a:rPr lang="en-US" dirty="0" smtClean="0"/>
              <a:t>This isn’t AICE English; you’re graded on your subject material and analysis, not your vocabulary. </a:t>
            </a:r>
          </a:p>
          <a:p>
            <a:pPr marL="914400" lvl="1" indent="-457200">
              <a:buAutoNum type="arabicPeriod"/>
            </a:pPr>
            <a:r>
              <a:rPr lang="en-US" dirty="0" smtClean="0"/>
              <a:t>Make sure you’re using your words </a:t>
            </a:r>
            <a:r>
              <a:rPr lang="en-US" i="1" dirty="0" smtClean="0"/>
              <a:t>correctly</a:t>
            </a:r>
            <a:r>
              <a:rPr lang="en-US" dirty="0" smtClean="0"/>
              <a:t>. An incorrectly used word can cause major misunderstandings in your paper.</a:t>
            </a:r>
          </a:p>
          <a:p>
            <a:pPr marL="914400" lvl="1" indent="-457200">
              <a:buAutoNum type="arabicPeriod"/>
            </a:pPr>
            <a:r>
              <a:rPr lang="en-US" dirty="0" smtClean="0"/>
              <a:t>Simple </a:t>
            </a:r>
            <a:r>
              <a:rPr lang="en-US" dirty="0" smtClean="0"/>
              <a:t>language is probably your best </a:t>
            </a:r>
            <a:r>
              <a:rPr lang="en-US" dirty="0" smtClean="0"/>
              <a:t>bet for comprehension—a correctly used simple word is more easily understood than some misused impressive vocabulary. </a:t>
            </a:r>
            <a:endParaRPr lang="en-US" dirty="0" smtClean="0"/>
          </a:p>
          <a:p>
            <a:pPr marL="914400" lvl="1" indent="-457200">
              <a:buAutoNum type="arabicPeriod"/>
            </a:pPr>
            <a:r>
              <a:rPr lang="en-US" dirty="0" smtClean="0"/>
              <a:t>Make sure your word count is where it’s supposed to be! AICE graders will not look kindly upon papers that are very short, and will not read past the given word count, even if you’ve written past it!</a:t>
            </a:r>
          </a:p>
        </p:txBody>
      </p:sp>
      <p:pic>
        <p:nvPicPr>
          <p:cNvPr id="3074" name="Picture 2" descr="Image result for big words"/>
          <p:cNvPicPr>
            <a:picLocks noChangeAspect="1" noChangeArrowheads="1"/>
          </p:cNvPicPr>
          <p:nvPr/>
        </p:nvPicPr>
        <p:blipFill rotWithShape="1">
          <a:blip r:embed="rId2">
            <a:extLst>
              <a:ext uri="{28A0092B-C50C-407E-A947-70E740481C1C}">
                <a14:useLocalDpi xmlns:a14="http://schemas.microsoft.com/office/drawing/2010/main" val="0"/>
              </a:ext>
            </a:extLst>
          </a:blip>
          <a:srcRect t="15870" r="-84" b="37894"/>
          <a:stretch/>
        </p:blipFill>
        <p:spPr bwMode="auto">
          <a:xfrm>
            <a:off x="869678" y="383177"/>
            <a:ext cx="3336562" cy="154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924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Compare with Classmates</a:t>
            </a:r>
            <a:endParaRPr lang="en-US" dirty="0"/>
          </a:p>
        </p:txBody>
      </p:sp>
      <p:sp>
        <p:nvSpPr>
          <p:cNvPr id="3" name="Content Placeholder 2"/>
          <p:cNvSpPr>
            <a:spLocks noGrp="1"/>
          </p:cNvSpPr>
          <p:nvPr>
            <p:ph idx="1"/>
          </p:nvPr>
        </p:nvSpPr>
        <p:spPr>
          <a:xfrm>
            <a:off x="685800" y="2194560"/>
            <a:ext cx="6463937" cy="4024125"/>
          </a:xfrm>
        </p:spPr>
        <p:txBody>
          <a:bodyPr>
            <a:normAutofit lnSpcReduction="10000"/>
          </a:bodyPr>
          <a:lstStyle/>
          <a:p>
            <a:r>
              <a:rPr lang="en-US" dirty="0" smtClean="0"/>
              <a:t>At times, you may not be totally sure if your paper is properly written. Well, truth be told, outside of formatting, there is no “right” or “wrong,” but if you’re feeling unsure, you may want to look at papers written by others.</a:t>
            </a:r>
          </a:p>
          <a:p>
            <a:r>
              <a:rPr lang="en-US" dirty="0" smtClean="0"/>
              <a:t>Comparing your work with the work of classmates can be helpful not only by showing you different methods of organizing and writing your essay, but it can also teach you how to do things you may not have known how to do before. (For example: using Microsoft Word tools you didn’t know about)</a:t>
            </a:r>
            <a:endParaRPr lang="en-US" dirty="0"/>
          </a:p>
        </p:txBody>
      </p:sp>
      <p:pic>
        <p:nvPicPr>
          <p:cNvPr id="1026" name="Picture 2" descr="Image result for classma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1735" y="2194560"/>
            <a:ext cx="4334702" cy="2891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3161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your references</a:t>
            </a:r>
            <a:endParaRPr lang="en-US" dirty="0"/>
          </a:p>
        </p:txBody>
      </p:sp>
      <p:sp>
        <p:nvSpPr>
          <p:cNvPr id="3" name="Content Placeholder 2"/>
          <p:cNvSpPr>
            <a:spLocks noGrp="1"/>
          </p:cNvSpPr>
          <p:nvPr>
            <p:ph idx="1"/>
          </p:nvPr>
        </p:nvSpPr>
        <p:spPr/>
        <p:txBody>
          <a:bodyPr>
            <a:normAutofit/>
          </a:bodyPr>
          <a:lstStyle/>
          <a:p>
            <a:r>
              <a:rPr lang="en-US" dirty="0" smtClean="0"/>
              <a:t>There are several important things that need to be present in the references you include with your Paper 2. Remember, these references represent the information you’re presenting in your essay, so they’ll either back you up or cause your evidence to crumble. </a:t>
            </a:r>
            <a:r>
              <a:rPr lang="en-US" dirty="0" smtClean="0"/>
              <a:t>Make </a:t>
            </a:r>
            <a:r>
              <a:rPr lang="en-US" dirty="0" smtClean="0"/>
              <a:t>sure your references…</a:t>
            </a:r>
          </a:p>
          <a:p>
            <a:pPr lvl="1"/>
            <a:r>
              <a:rPr lang="en-US" dirty="0" smtClean="0"/>
              <a:t>Are alphabetical </a:t>
            </a:r>
          </a:p>
          <a:p>
            <a:pPr lvl="1"/>
            <a:r>
              <a:rPr lang="en-US" dirty="0" smtClean="0"/>
              <a:t>Are APA cited and have a hanging indent</a:t>
            </a:r>
          </a:p>
          <a:p>
            <a:pPr lvl="1"/>
            <a:r>
              <a:rPr lang="en-US" dirty="0" smtClean="0"/>
              <a:t>Are authored, preferably (this makes your source more credible)</a:t>
            </a:r>
          </a:p>
          <a:p>
            <a:pPr lvl="1"/>
            <a:r>
              <a:rPr lang="en-US" dirty="0" smtClean="0"/>
              <a:t>Are scholarly (use Google Scholar or similar search engines)</a:t>
            </a:r>
          </a:p>
          <a:p>
            <a:pPr lvl="1"/>
            <a:r>
              <a:rPr lang="en-US" dirty="0" smtClean="0"/>
              <a:t>Are GLOBAL (make sure your research is varied and universal</a:t>
            </a:r>
            <a:r>
              <a:rPr lang="en-US" dirty="0" smtClean="0"/>
              <a:t>)</a:t>
            </a:r>
            <a:endParaRPr lang="en-US" dirty="0"/>
          </a:p>
          <a:p>
            <a:r>
              <a:rPr lang="en-US" dirty="0"/>
              <a:t>Also make sure any quotes longer than 3 lines are indented, parenthetically cited, and do not contain quotation marks.</a:t>
            </a:r>
          </a:p>
          <a:p>
            <a:pPr lvl="1"/>
            <a:endParaRPr lang="en-US" dirty="0"/>
          </a:p>
        </p:txBody>
      </p:sp>
      <p:pic>
        <p:nvPicPr>
          <p:cNvPr id="3074" name="Picture 2" descr="Image result for revi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632" y="227013"/>
            <a:ext cx="3797935" cy="189896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referenc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27176" y="3245414"/>
            <a:ext cx="2563221" cy="1922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65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think on your thesis</a:t>
            </a:r>
            <a:endParaRPr lang="en-US" dirty="0"/>
          </a:p>
        </p:txBody>
      </p:sp>
      <p:sp>
        <p:nvSpPr>
          <p:cNvPr id="3" name="Content Placeholder 2"/>
          <p:cNvSpPr>
            <a:spLocks noGrp="1"/>
          </p:cNvSpPr>
          <p:nvPr>
            <p:ph idx="1"/>
          </p:nvPr>
        </p:nvSpPr>
        <p:spPr/>
        <p:txBody>
          <a:bodyPr/>
          <a:lstStyle/>
          <a:p>
            <a:r>
              <a:rPr lang="en-US" dirty="0" smtClean="0"/>
              <a:t>Make sure your thesis reflects your question. Ask yourself:</a:t>
            </a:r>
          </a:p>
          <a:p>
            <a:pPr lvl="1"/>
            <a:r>
              <a:rPr lang="en-US" dirty="0" smtClean="0"/>
              <a:t>Do the points you’re discussing mirror what your question is asking?</a:t>
            </a:r>
            <a:endParaRPr lang="en-US" dirty="0"/>
          </a:p>
          <a:p>
            <a:pPr lvl="1"/>
            <a:r>
              <a:rPr lang="en-US" dirty="0" smtClean="0"/>
              <a:t>Does your evidence match your arguments?</a:t>
            </a:r>
          </a:p>
          <a:p>
            <a:pPr lvl="1"/>
            <a:r>
              <a:rPr lang="en-US" dirty="0" smtClean="0"/>
              <a:t>Can you successfully defend the topic you’ve chosen? (If you can’t, you may want to rethink your original question!)</a:t>
            </a:r>
          </a:p>
          <a:p>
            <a:pPr lvl="1"/>
            <a:r>
              <a:rPr lang="en-US" dirty="0" smtClean="0"/>
              <a:t>Can anything you’ve written be wildly misinterpreted?</a:t>
            </a:r>
          </a:p>
          <a:p>
            <a:pPr lvl="1"/>
            <a:r>
              <a:rPr lang="en-US" dirty="0" smtClean="0"/>
              <a:t>Are you </a:t>
            </a:r>
            <a:r>
              <a:rPr lang="en-US" i="1" dirty="0" smtClean="0"/>
              <a:t>confident</a:t>
            </a:r>
            <a:r>
              <a:rPr lang="en-US" dirty="0" smtClean="0"/>
              <a:t> in your thesis?</a:t>
            </a:r>
          </a:p>
          <a:p>
            <a:pPr lvl="1"/>
            <a:r>
              <a:rPr lang="en-US" dirty="0" smtClean="0"/>
              <a:t>Is your thesis stronger (and maybe longer) than your concession? (If it isn’t, you may want to swap the two.)</a:t>
            </a:r>
          </a:p>
        </p:txBody>
      </p:sp>
      <p:pic>
        <p:nvPicPr>
          <p:cNvPr id="1026" name="Picture 2" descr="Image result for thesi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3684" y="301127"/>
            <a:ext cx="2599594" cy="1756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377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Consider your concession</a:t>
            </a:r>
            <a:endParaRPr lang="en-US" dirty="0"/>
          </a:p>
        </p:txBody>
      </p:sp>
      <p:sp>
        <p:nvSpPr>
          <p:cNvPr id="3" name="Content Placeholder 2"/>
          <p:cNvSpPr>
            <a:spLocks noGrp="1"/>
          </p:cNvSpPr>
          <p:nvPr>
            <p:ph idx="1"/>
          </p:nvPr>
        </p:nvSpPr>
        <p:spPr>
          <a:xfrm>
            <a:off x="685800" y="2194560"/>
            <a:ext cx="6490063" cy="4024125"/>
          </a:xfrm>
        </p:spPr>
        <p:txBody>
          <a:bodyPr>
            <a:normAutofit lnSpcReduction="10000"/>
          </a:bodyPr>
          <a:lstStyle/>
          <a:p>
            <a:r>
              <a:rPr lang="en-US" dirty="0" smtClean="0"/>
              <a:t>Although it may seem like it should, your concession should </a:t>
            </a:r>
            <a:r>
              <a:rPr lang="en-US" u="sng" dirty="0" smtClean="0"/>
              <a:t>not</a:t>
            </a:r>
            <a:r>
              <a:rPr lang="en-US" dirty="0" smtClean="0"/>
              <a:t> be a total contradiction to your thesis. </a:t>
            </a:r>
            <a:r>
              <a:rPr lang="en-US" dirty="0" smtClean="0"/>
              <a:t>It should simply be a few alternate perspectives, </a:t>
            </a:r>
            <a:r>
              <a:rPr lang="en-US" dirty="0" smtClean="0"/>
              <a:t>if that makes sense.</a:t>
            </a:r>
          </a:p>
          <a:p>
            <a:r>
              <a:rPr lang="en-US" dirty="0" smtClean="0"/>
              <a:t>In layman’s terms: It shouldn’t be ‘yes’ and ‘no,’ it should be </a:t>
            </a:r>
            <a:r>
              <a:rPr lang="en-US" dirty="0" smtClean="0"/>
              <a:t>‘</a:t>
            </a:r>
            <a:r>
              <a:rPr lang="en-US" dirty="0" smtClean="0"/>
              <a:t>here’s why’ and ‘here’s why not.’</a:t>
            </a:r>
          </a:p>
          <a:p>
            <a:r>
              <a:rPr lang="en-US" dirty="0" smtClean="0"/>
              <a:t>Your concession should be just a little bit weaker than your thesis, to clarify which side you’re trying to defend more heavily. You should be able to strongly defend both scopes.</a:t>
            </a:r>
            <a:endParaRPr lang="en-US" dirty="0"/>
          </a:p>
        </p:txBody>
      </p:sp>
      <p:pic>
        <p:nvPicPr>
          <p:cNvPr id="2050" name="Picture 2" descr="Image result for conces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5757" y="2048601"/>
            <a:ext cx="4028893" cy="4028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5409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Check your conclusion</a:t>
            </a:r>
            <a:endParaRPr lang="en-US" dirty="0"/>
          </a:p>
        </p:txBody>
      </p:sp>
      <p:sp>
        <p:nvSpPr>
          <p:cNvPr id="3" name="Content Placeholder 2"/>
          <p:cNvSpPr>
            <a:spLocks noGrp="1"/>
          </p:cNvSpPr>
          <p:nvPr>
            <p:ph idx="1"/>
          </p:nvPr>
        </p:nvSpPr>
        <p:spPr/>
        <p:txBody>
          <a:bodyPr/>
          <a:lstStyle/>
          <a:p>
            <a:r>
              <a:rPr lang="en-US" dirty="0" smtClean="0"/>
              <a:t>Does your conclusion discuss and remind the reader of your arguments? </a:t>
            </a:r>
          </a:p>
          <a:p>
            <a:r>
              <a:rPr lang="en-US" dirty="0" smtClean="0"/>
              <a:t>Your conclusion should not be a summary. It should be a reflection of your main arguments on both sides, a reminder, an ending that really drives the point(s) home</a:t>
            </a:r>
            <a:r>
              <a:rPr lang="en-US" dirty="0" smtClean="0"/>
              <a:t>.</a:t>
            </a:r>
          </a:p>
          <a:p>
            <a:r>
              <a:rPr lang="en-US" dirty="0" smtClean="0"/>
              <a:t>Your conclusion should leave the reader with a strong ending to your Paper 2.</a:t>
            </a:r>
            <a:endParaRPr lang="en-US" dirty="0"/>
          </a:p>
        </p:txBody>
      </p:sp>
      <p:pic>
        <p:nvPicPr>
          <p:cNvPr id="3074" name="Picture 2" descr="Image result for conc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3692" y="4125280"/>
            <a:ext cx="4861288" cy="254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3651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Finally…</a:t>
            </a:r>
            <a:endParaRPr lang="en-US" dirty="0"/>
          </a:p>
        </p:txBody>
      </p:sp>
      <p:sp>
        <p:nvSpPr>
          <p:cNvPr id="3" name="Content Placeholder 2"/>
          <p:cNvSpPr>
            <a:spLocks noGrp="1"/>
          </p:cNvSpPr>
          <p:nvPr>
            <p:ph idx="1"/>
          </p:nvPr>
        </p:nvSpPr>
        <p:spPr>
          <a:xfrm>
            <a:off x="685800" y="2194560"/>
            <a:ext cx="5880463" cy="4024125"/>
          </a:xfrm>
        </p:spPr>
        <p:txBody>
          <a:bodyPr/>
          <a:lstStyle/>
          <a:p>
            <a:pPr marL="0" indent="0">
              <a:buNone/>
            </a:pPr>
            <a:r>
              <a:rPr lang="en-US" dirty="0" smtClean="0"/>
              <a:t>Ask yourself:</a:t>
            </a:r>
          </a:p>
          <a:p>
            <a:pPr marL="0" indent="0">
              <a:buNone/>
            </a:pPr>
            <a:r>
              <a:rPr lang="en-US" dirty="0"/>
              <a:t>	</a:t>
            </a:r>
            <a:r>
              <a:rPr lang="en-US" dirty="0" smtClean="0"/>
              <a:t>Are you happy with your paper?</a:t>
            </a:r>
          </a:p>
          <a:p>
            <a:pPr marL="0" indent="0">
              <a:buNone/>
            </a:pPr>
            <a:r>
              <a:rPr lang="en-US" dirty="0"/>
              <a:t>	</a:t>
            </a:r>
            <a:r>
              <a:rPr lang="en-US" dirty="0" smtClean="0"/>
              <a:t>Are you proud of your paper?</a:t>
            </a:r>
          </a:p>
          <a:p>
            <a:pPr marL="0" indent="0">
              <a:buNone/>
            </a:pPr>
            <a:r>
              <a:rPr lang="en-US" dirty="0"/>
              <a:t>	</a:t>
            </a:r>
            <a:r>
              <a:rPr lang="en-US" dirty="0" smtClean="0"/>
              <a:t>Would you be </a:t>
            </a:r>
            <a:r>
              <a:rPr lang="en-US" dirty="0" smtClean="0"/>
              <a:t>confident in showing 	an AICE </a:t>
            </a:r>
            <a:r>
              <a:rPr lang="en-US" dirty="0" smtClean="0"/>
              <a:t>grader your work?</a:t>
            </a:r>
          </a:p>
          <a:p>
            <a:pPr marL="0" indent="0">
              <a:buNone/>
            </a:pPr>
            <a:r>
              <a:rPr lang="en-US" dirty="0" smtClean="0"/>
              <a:t>If you can confidently say yes to all of these, then you’re on the right track to a successful Paper 2!</a:t>
            </a:r>
            <a:endParaRPr lang="en-US" dirty="0"/>
          </a:p>
        </p:txBody>
      </p:sp>
      <p:pic>
        <p:nvPicPr>
          <p:cNvPr id="409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6263" y="2057401"/>
            <a:ext cx="3978457" cy="397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17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p:cTn id="15"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p:cTn id="23"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111</TotalTime>
  <Words>844</Words>
  <Application>Microsoft Office PowerPoint</Application>
  <PresentationFormat>Widescreen</PresentationFormat>
  <Paragraphs>78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Vapor Trail</vt:lpstr>
      <vt:lpstr>Your Paper 2 final revisions</vt:lpstr>
      <vt:lpstr>intro</vt:lpstr>
      <vt:lpstr>Why revise your paper 2?</vt:lpstr>
      <vt:lpstr>Simplify your Structure</vt:lpstr>
      <vt:lpstr>Here’s an example </vt:lpstr>
      <vt:lpstr>Work on your words</vt:lpstr>
      <vt:lpstr>Compare with Classmates</vt:lpstr>
      <vt:lpstr>Review your references</vt:lpstr>
      <vt:lpstr>think on your thesis</vt:lpstr>
      <vt:lpstr>Consider your concession</vt:lpstr>
      <vt:lpstr>Check your conclusion</vt:lpstr>
      <vt:lpstr>Finally…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final revisions</dc:title>
  <dc:creator>LANE MICHELLE ANGELIQUE</dc:creator>
  <cp:lastModifiedBy>LANE MICHELLE ANGELIQUE</cp:lastModifiedBy>
  <cp:revision>49</cp:revision>
  <dcterms:created xsi:type="dcterms:W3CDTF">2018-04-05T12:26:56Z</dcterms:created>
  <dcterms:modified xsi:type="dcterms:W3CDTF">2018-04-11T17:18:17Z</dcterms:modified>
</cp:coreProperties>
</file>